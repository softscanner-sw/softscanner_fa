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Automating End-to-End Functional Testing</a:t>
            </a:r>
            <a:br>
              <a:rPr dirty="0"/>
            </a:br>
            <a:r>
              <a:rPr dirty="0"/>
              <a:t>of Web Applications based on</a:t>
            </a:r>
            <a:br>
              <a:rPr dirty="0"/>
            </a:br>
            <a:r>
              <a:rPr dirty="0"/>
              <a:t>Augmented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  <a:latin typeface="Calibri"/>
              </a:defRPr>
            </a:pPr>
            <a:r>
              <a:rPr dirty="0"/>
              <a:t>Current implementation</a:t>
            </a:r>
            <a:r>
              <a:rPr lang="en-US" dirty="0"/>
              <a:t>/evaluation</a:t>
            </a:r>
            <a:r>
              <a:rPr dirty="0"/>
              <a:t> status through Phase B2 — validated on 6 Angular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Context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E2E functional testing validates that frontend behavior works correctly from the user's perspective.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User-visible behavior is primarily defined at the </a:t>
            </a:r>
            <a:r>
              <a:rPr b="1" dirty="0"/>
              <a:t>frontend</a:t>
            </a:r>
            <a:r>
              <a:rPr dirty="0"/>
              <a:t> — defects at this level are invisible to unit/backend testing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E2E testing proceeds by defining </a:t>
            </a:r>
            <a:r>
              <a:rPr b="1" dirty="0"/>
              <a:t>workflows</a:t>
            </a:r>
            <a:r>
              <a:rPr dirty="0"/>
              <a:t>: structured sequences of user actions (clicks, inputs, navigations)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Executable </a:t>
            </a:r>
            <a:r>
              <a:rPr b="1" dirty="0"/>
              <a:t>tests</a:t>
            </a:r>
            <a:r>
              <a:rPr dirty="0"/>
              <a:t> are concrete instantiations of such workflows — coverage depends on how workflows are defined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Existing approaches compute </a:t>
            </a:r>
            <a:r>
              <a:rPr b="1" dirty="0"/>
              <a:t>coverage</a:t>
            </a:r>
            <a:r>
              <a:rPr dirty="0"/>
              <a:t> over interaction spaces derived from models, specifications, or runtime artifacts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Coverage remains bounded by abstraction choices or exploration policies, </a:t>
            </a:r>
            <a:r>
              <a:rPr b="1" dirty="0"/>
              <a:t>not by the implementation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303520" cy="438912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The Coverage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93776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Static models abstract away guards, roles, parameters, and state constraints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Dynamic exploration is bounded by exploration budget and observed behavior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Neither constructs a finite, implementation-grounded workflow reference space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Result</a:t>
            </a:r>
            <a:r>
              <a:rPr dirty="0"/>
              <a:t>: coverage reflects how well an approach explores its chosen artifact, not how completely it exercises the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Research Objective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Objective: Maximize E2E test coverage over a finite, constraint-aware, implementation-grounded workflow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RQ1 —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i="1" dirty="0"/>
              <a:t>How can frontend interaction behavior be represented such that the resulting workflow space is complete </a:t>
            </a:r>
            <a:r>
              <a:rPr i="1" dirty="0" err="1"/>
              <a:t>w.r.t.</a:t>
            </a:r>
            <a:r>
              <a:rPr i="1" dirty="0"/>
              <a:t> the implementation, constraint-aware, finite, and executable?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231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dirty="0"/>
              <a:t>Issue: Representational inadequacy: classical workflows capture reachability but not executability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40"/>
            <a:ext cx="109728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RQ2 —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i="1" dirty="0"/>
              <a:t>How can such a representation be systematically and deterministically derived from frontend source code?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Issue: Methodological: even with a suitable representation, constructing it from code must be systematic, deterministic, and finite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12080"/>
            <a:ext cx="109728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RQ3 — Realization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i="1" dirty="0"/>
              <a:t>How can workflows in this representation be instantiated and executed so as to maximize coverage over that space?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Issue: Operational: feasibility does not guarantee execution success — realization requires concrete runtime assignments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Existing Automated E2E Generation Is Insufficient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0" cy="5120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Static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12064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Model-Based Testing (MBT)</a:t>
            </a:r>
            <a:r>
              <a:rPr dirty="0"/>
              <a:t>: finite state machines, state/transition coverage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Use case / requirements-driven</a:t>
            </a:r>
            <a:r>
              <a:rPr dirty="0"/>
              <a:t>: UML models, textual specs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LLM-based synthesis</a:t>
            </a:r>
            <a:r>
              <a:rPr dirty="0"/>
              <a:t> from user stories, Gherkin, form descriptions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Limitation</a:t>
            </a:r>
            <a:r>
              <a:rPr dirty="0"/>
              <a:t>: interaction space defined by the specification, not the implementation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Generated scripts may target unreachable states, miss guards/constraints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Coverage bounded by artifact completeness and alignment with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Dynamic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Crawling</a:t>
            </a:r>
            <a:r>
              <a:rPr dirty="0"/>
              <a:t>: AJAX Crawling, </a:t>
            </a:r>
            <a:r>
              <a:rPr dirty="0" err="1"/>
              <a:t>CrawlJax</a:t>
            </a:r>
            <a:r>
              <a:rPr dirty="0"/>
              <a:t>, GUI ripping — discover observed DOM states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Web agents</a:t>
            </a:r>
            <a:r>
              <a:rPr dirty="0"/>
              <a:t>: LLMs operating on live DOM, selecting actions step-by-step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AutoE2E</a:t>
            </a:r>
            <a:r>
              <a:rPr dirty="0"/>
              <a:t>: LLM-driven feature discovery from runtime exploration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b="1" dirty="0"/>
              <a:t>Limitation</a:t>
            </a:r>
            <a:r>
              <a:rPr dirty="0"/>
              <a:t>: interaction space defined by exploration budget and observed behavior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May miss feasible but unvisited workflows; metrics depend on exploration strategy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Coverage reflects discovered subset, not the full implementation-level workflow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Gap: No prior work constructs a finite, constraint-aware workflow reference space grounded directly in the frontend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Core Idea: Augmented Workflows over a Closed Workflow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Separate representation construction (Phase A) from realization (Phase B).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53035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Augmented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937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A workflow w is a path whose transitions are annotated with constraints extracted from the implementation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Constraints originate from route guards, route metadata (roles), required parameters, and atomic UI predicates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All constraints are aggregated into a workflow-level constraint set C(w)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w is FEASIBLE if C(w) is not contradictory; CONDITIONAL if it requires runtime assignment; PRUNED if contradictory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The reference space W = all non-PRUNED workflows — fixed, finite, implementation-grounded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Coverage over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493776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W is constructed once (Phase A) and held fixed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Phase B realizes workflows in W into executable Selenium tests via validated assignments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Coverage = |E| / |W| where E = successfully executed workflows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Both our approach and baselines are evaluated over the same W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Coverage differences reflect realization effectiveness, not denominator differences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This separates what the implementation can do from how well an approach exercises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Pipeline: Phase A (Static) + Phase B (Realization)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A — Static Construction of Workflow Space 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560320" cy="2194560"/>
          </a:xfrm>
          <a:prstGeom prst="rect">
            <a:avLst/>
          </a:prstGeom>
          <a:solidFill>
            <a:srgbClr val="DE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A1: Multigraph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3774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Angular AST → multigraph G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6 node kinds, 18 edge kinds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Constraint metadata on edges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Deterministic, auditable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1464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C00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737360"/>
            <a:ext cx="2560320" cy="2194560"/>
          </a:xfrm>
          <a:prstGeom prst="rect">
            <a:avLst/>
          </a:prstGeom>
          <a:solidFill>
            <a:srgbClr val="DE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A2: Workflow Enumeration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8840"/>
            <a:ext cx="23774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1 workflow per trigger edge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Handler-scoped effect closure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Constraint merge + classify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W = {FEASIBLE ∪ CONDITIONAL}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142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B — Coverage-Guided Realization over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09160"/>
            <a:ext cx="2103120" cy="18288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Calibri"/>
              </a:defRPr>
            </a:pPr>
            <a:r>
              <a:t>B0: Subject</a:t>
            </a:r>
            <a:br/>
            <a:r>
              <a:t>Manifest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120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Manual config:</a:t>
            </a:r>
            <a:br/>
            <a:r>
              <a:t>credentials,</a:t>
            </a:r>
            <a:br/>
            <a:r>
              <a:t>route params,</a:t>
            </a:r>
            <a:br/>
            <a:r>
              <a:t>form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394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79" y="4709160"/>
            <a:ext cx="2103120" cy="18288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199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Calibri"/>
              </a:defRPr>
            </a:pPr>
            <a:r>
              <a:t>B1: Intent +</a:t>
            </a:r>
            <a:br/>
            <a:r>
              <a:t>ActionPlan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199" y="5120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Deterministic</a:t>
            </a:r>
            <a:br/>
            <a:r>
              <a:t>derivation:</a:t>
            </a:r>
            <a:br/>
            <a:r>
              <a:t>assignments,</a:t>
            </a:r>
            <a:br/>
            <a:r>
              <a:t>preconditions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599" y="5394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709160"/>
            <a:ext cx="2103120" cy="18288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492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Calibri"/>
              </a:defRPr>
            </a:pPr>
            <a:r>
              <a:t>B2: Selenium</a:t>
            </a:r>
            <a:br/>
            <a:r>
              <a:t>Code 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120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 test file per</a:t>
            </a:r>
            <a:br/>
            <a:r>
              <a:t>ActionPlan,</a:t>
            </a:r>
            <a:br/>
            <a:r>
              <a:t>deterministic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394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19" y="4709160"/>
            <a:ext cx="2103120" cy="18288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39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Calibri"/>
              </a:defRPr>
            </a:pPr>
            <a:r>
              <a:t>B3: Execution</a:t>
            </a:r>
            <a:br/>
            <a:r>
              <a:t>+ 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39" y="5120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Bounded retry</a:t>
            </a:r>
            <a:br/>
            <a:r>
              <a:t>(3 levels),</a:t>
            </a:r>
            <a:br/>
            <a:r>
              <a:t>failure taxonomy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39" y="5394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4709160"/>
            <a:ext cx="2103120" cy="18288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3836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Calibri"/>
              </a:defRPr>
            </a:pPr>
            <a:r>
              <a:t>B4: Coverage</a:t>
            </a:r>
            <a:br/>
            <a:r>
              <a:t>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5120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C1-C4 metrics</a:t>
            </a:r>
            <a:br/>
            <a:r>
              <a:t>over fixed 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Current Validated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737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A1: Multigraph extraction (6 subjects)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A2: 257 workflows enumerated + classified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B0: 6 manifests validated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B1: 257 intents + 257 plans (GT-aligned)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B2: 257 Selenium tests generated (100%)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○ B3: Execution — not yet validated at scale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○ B4: Coverage reporting — pending B3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A1: UI Interaction Multigraph (RQ1, RQ2)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dirty="0"/>
              <a:t>A1 statically analyzes the codebase via AST inspection to construct a unified multigraph 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318088"/>
              </p:ext>
            </p:extLst>
          </p:nvPr>
        </p:nvGraphicFramePr>
        <p:xfrm>
          <a:off x="365760" y="173736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 Kind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Represents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module / standalone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file + class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URL-level route context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canonical fullPath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component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file + class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Widget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Interactive template element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+ span + kind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Injectable service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file + class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External URL target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FNV-1a hash of 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18 Edge Kinds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11 Structural (existence, ownership, containment):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MODULE_DECLARES_*, MODULE_IMPORTS/EXPORTS, MODULE_PROVIDES_SERVICE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ROUTE_HAS_CHILD, ROUTE_ACTIVATES_COMPONENT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COMPONENT_CONTAINS_WIDGET, WIDGET_CONTAINS_WIDGET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COMPONENT_COMPOSES_COMPONENT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490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7 Executable (what can happen at runtime):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WIDGET_NAVIGATES_ROUTE / EXTERNAL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WIDGET_TRIGGERS_HANDLER, WIDGET_SUBMITS_FORM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COMPONENT_CALLS_SERVICE, COMPONENT_NAVIGATES_ROUTE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ROUTE_REDIRECTS_TO_ROUTE (system)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120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Key properties: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94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rPr dirty="0"/>
              <a:t>Every node/edge backed by </a:t>
            </a:r>
            <a:r>
              <a:rPr dirty="0" err="1"/>
              <a:t>SourceRef</a:t>
            </a:r>
            <a:r>
              <a:rPr dirty="0"/>
              <a:t> (file, char offsets)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rPr dirty="0" err="1"/>
              <a:t>ConstraintSurface</a:t>
            </a:r>
            <a:r>
              <a:rPr dirty="0"/>
              <a:t> on every executable edge (guards, params, UI atoms)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rPr dirty="0"/>
              <a:t>Deterministic: same codebase → byte-identical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5F8A"/>
                </a:solidFill>
                <a:latin typeface="Calibri"/>
              </a:defRPr>
            </a:pPr>
            <a:r>
              <a:t>Across 6 subjects: 665 nodes, 1345 edges, 993 structural, 352 executable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A2: Workflow Enumeration and Classification (RQ1, RQ2)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A2 enumerates exactly one TaskWorkflow per trigger edge, producing the workflow space W.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96204"/>
            <a:ext cx="54864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876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Enumeration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44844"/>
            <a:ext cx="512064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For each component-bearing route r, compute active widgets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For each enabled trigger edge (WTH/WSF/WNR/WNE):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  • Collect handler-scoped effects (CCS, CNR)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  • Apply deterministic redirect closure (cycle-safe)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  • Determine terminal node (Route or External)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Aggregate: same trigger active on N routes → 1 workflow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Merge constraints across all steps: C(w) = ∪ constraints(</a:t>
            </a:r>
            <a:r>
              <a:rPr dirty="0" err="1"/>
              <a:t>e_i</a:t>
            </a:r>
            <a:r>
              <a:rPr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96204"/>
            <a:ext cx="5486400" cy="3200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876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Classification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44844"/>
            <a:ext cx="512064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FEASIBLE: no guards, no params, no contradictions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CONDITIONAL: requires runtime assignment (guards, params, form validity, expression-bound UI gates)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PRUNED: provable literal contradictions only (mutex, exclusive roles, visible=false, min&gt;max, redirect deadlock)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Strict order: PRUNED checks → CONDITIONAL checks → FEASIBLE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No full SAT, no heuristic tie-breaking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946644"/>
              </p:ext>
            </p:extLst>
          </p:nvPr>
        </p:nvGraphicFramePr>
        <p:xfrm>
          <a:off x="365760" y="4799097"/>
          <a:ext cx="1033272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Workflows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FEASIBLE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PRUNED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Trigger Edges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posts-users-ui-ng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spring-petclinic-angular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heroes-angular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softscanner-cqa-frontend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ever-traduora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airbus-inventory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B: From Workflows to Executable Tests (RQ3)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256032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Calibri"/>
              </a:defRPr>
            </a:pPr>
            <a:r>
              <a:t>B0: SubjectManifest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47472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Per-subject manual config: </a:t>
            </a:r>
            <a:r>
              <a:rPr dirty="0" err="1"/>
              <a:t>baseUrl</a:t>
            </a:r>
            <a:r>
              <a:rPr dirty="0"/>
              <a:t>, accounts, </a:t>
            </a:r>
            <a:r>
              <a:rPr dirty="0" err="1"/>
              <a:t>routeParamValues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Maps guard names → credentials via </a:t>
            </a:r>
            <a:r>
              <a:rPr dirty="0" err="1"/>
              <a:t>guardSatisfies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authSetup</a:t>
            </a:r>
            <a:r>
              <a:rPr dirty="0"/>
              <a:t>: login mechanism (route, selectors)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formDataOverrides</a:t>
            </a:r>
            <a:r>
              <a:rPr dirty="0"/>
              <a:t>, </a:t>
            </a:r>
            <a:r>
              <a:rPr dirty="0" err="1"/>
              <a:t>skipWorkflows</a:t>
            </a:r>
            <a:r>
              <a:rPr dirty="0"/>
              <a:t> (optional)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executionConfig</a:t>
            </a:r>
            <a:r>
              <a:rPr dirty="0"/>
              <a:t>: readiness check, </a:t>
            </a:r>
            <a:r>
              <a:rPr dirty="0" err="1"/>
              <a:t>seedDataNotes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Validated against A2 (guards, params, workflow IDs)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657600" cy="2560320"/>
          </a:xfrm>
          <a:prstGeom prst="rect">
            <a:avLst/>
          </a:prstGeom>
          <a:solidFill>
            <a:srgbClr val="DE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Calibri"/>
              </a:defRPr>
            </a:pPr>
            <a:r>
              <a:t>B1.1: RealizationIntent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47472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1 intent per </a:t>
            </a:r>
            <a:r>
              <a:rPr lang="en-US" dirty="0"/>
              <a:t>w</a:t>
            </a:r>
            <a:r>
              <a:rPr dirty="0"/>
              <a:t>orkflow (257 total)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Trigger widget: </a:t>
            </a:r>
            <a:r>
              <a:rPr dirty="0" err="1"/>
              <a:t>tagName</a:t>
            </a:r>
            <a:r>
              <a:rPr dirty="0"/>
              <a:t>, attributes, locator info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Start route with URL template + required params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Form schema (for WSF triggers): field types, constraints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Guard names, param requirements, unresolved targets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Deterministic derivation from A1 + A2 (no manifest)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657600" cy="2560320"/>
          </a:xfrm>
          <a:prstGeom prst="rect">
            <a:avLst/>
          </a:prstGeom>
          <a:solidFill>
            <a:srgbClr val="DE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Calibri"/>
              </a:defRPr>
            </a:pPr>
            <a:r>
              <a:t>B1.2: ActionPlan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47472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Binds intent to manifest: account, route params, form data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PreConditions</a:t>
            </a:r>
            <a:r>
              <a:rPr dirty="0"/>
              <a:t>: auth-setup, navigate-to-route, dialog-open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ActionSteps</a:t>
            </a:r>
            <a:r>
              <a:rPr dirty="0"/>
              <a:t>: click, type, submit, select-option, wait-*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ScopedLocator</a:t>
            </a:r>
            <a:r>
              <a:rPr dirty="0"/>
              <a:t>: component + form scoping, 10 strategies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PostConditions</a:t>
            </a:r>
            <a:r>
              <a:rPr dirty="0"/>
              <a:t>: assert-</a:t>
            </a:r>
            <a:r>
              <a:rPr dirty="0" err="1"/>
              <a:t>url</a:t>
            </a:r>
            <a:r>
              <a:rPr dirty="0"/>
              <a:t>-matches, assert-no-crash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257 plans, all GT-validated (0 mismatches)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23360"/>
            <a:ext cx="548640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B2: Generated Selenium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53035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1 .</a:t>
            </a:r>
            <a:r>
              <a:rPr dirty="0" err="1"/>
              <a:t>test.ts</a:t>
            </a:r>
            <a:r>
              <a:rPr dirty="0"/>
              <a:t> file per </a:t>
            </a:r>
            <a:r>
              <a:rPr dirty="0" err="1"/>
              <a:t>ActionPlan</a:t>
            </a:r>
            <a:r>
              <a:rPr dirty="0"/>
              <a:t> (257 total across 6 subjects)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Selenium WebDriver TypeScript: Chrome headless setup, implicit wait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Preconditions → Steps → Postconditions → </a:t>
            </a:r>
            <a:r>
              <a:rPr dirty="0" err="1"/>
              <a:t>driver.quit</a:t>
            </a:r>
            <a:r>
              <a:rPr dirty="0"/>
              <a:t>()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Locator translation: </a:t>
            </a:r>
            <a:r>
              <a:rPr dirty="0" err="1"/>
              <a:t>ScopedLocator</a:t>
            </a:r>
            <a:r>
              <a:rPr dirty="0"/>
              <a:t> → Selenium By.* expression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Component + form scoping via nested </a:t>
            </a:r>
            <a:r>
              <a:rPr dirty="0" err="1"/>
              <a:t>findElement</a:t>
            </a:r>
            <a:r>
              <a:rPr dirty="0"/>
              <a:t> chains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Deterministic: same </a:t>
            </a:r>
            <a:r>
              <a:rPr dirty="0" err="1"/>
              <a:t>ActionPlan</a:t>
            </a:r>
            <a:r>
              <a:rPr dirty="0"/>
              <a:t> → byte-identical test code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Generation coverage: 257/257 = 100% across all 6 subjects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23360"/>
            <a:ext cx="5486400" cy="27432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F17"/>
                </a:solidFill>
                <a:latin typeface="Calibri"/>
              </a:defRPr>
            </a:pPr>
            <a:r>
              <a:rPr dirty="0"/>
              <a:t>B3/B4: Execution + Coverage (</a:t>
            </a:r>
            <a:r>
              <a:rPr lang="en-US" i="1" dirty="0"/>
              <a:t>Pending</a:t>
            </a:r>
            <a:r>
              <a:rPr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512064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B3: Execute tests against running subject apps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Bounded retry: 3 levels (as-is, extended wait, LLM-repair)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ExecutionResult</a:t>
            </a:r>
            <a:r>
              <a:rPr dirty="0"/>
              <a:t> with 7-outcome taxonomy (PASS through FAIL_UNKNOWN)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B4: Tiered coverage: C1 (plan), C2 (code), C3 (execution), C4 (oracle)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Entity provisioning: user responsibility (</a:t>
            </a:r>
            <a:r>
              <a:rPr dirty="0" err="1"/>
              <a:t>seedDataNotes</a:t>
            </a:r>
            <a:r>
              <a:rPr dirty="0"/>
              <a:t>)</a:t>
            </a:r>
            <a:endParaRPr lang="en-US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  <a:latin typeface="Calibri"/>
              </a:defRPr>
            </a:pPr>
            <a:r>
              <a:rPr dirty="0"/>
              <a:t>NOT YET VALIDATED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Ground-Truth Construction and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dirty="0"/>
              <a:t>257 manually constructed ground-truth entries across 6 subjects.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3035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Why Ground Truth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53035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Validates that derived intents and plans match human understanding of the application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Catches systematic errors in locator derivation, start route selection, auth materialization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Identifies spec gaps that required normative amendments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Prevents silent drift between implementation and spec over 257 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737360"/>
            <a:ext cx="56692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rPr dirty="0"/>
              <a:t>GT-Driven Adjudication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0352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150 initial mismatches across 6 subjects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~100 GT errors (over-specification) → GT repaired per normative rules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5 spec gaps → normative amendments to </a:t>
            </a:r>
            <a:r>
              <a:rPr lang="en-US" dirty="0"/>
              <a:t>the spec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3 validator issues → comparison logic fixed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2 implementation bugs → code fixed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Final: 257/257 matched for both B1 intents and B1 plans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429768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GT Entries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Repairs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 Match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posts-users-ui-ng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18/18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heroes-angular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19/19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softscanner-cqa-frontend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16/16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spring-petclinic-angular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74/74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ever-traduora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109/109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airbus-inventory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21/21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257/257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Validation Corpus: 6 Angular Applications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Workflows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Characteristics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posts-users-ui-ng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 platform, forms, route params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spring-petclinic-angular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Healthcare CRUD, backend deps, params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heroes-angular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NgRx, external links, lazy modules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softscanner-cqa-frontend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route, dialogs, composition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ever-traduora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Auth guards, 20 routes, largest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airbus-inventory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JWT guards, flat module, Spring Boot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Angular 12–18, varied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Selection criteria: varied architecture (flat vs. modular), Angular versions 12–18, with/without auth guards, different backend stacks.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09728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Module structure: flat (airbus: 1 module) to highly modular (</a:t>
            </a:r>
            <a:r>
              <a:rPr dirty="0" err="1"/>
              <a:t>traduora</a:t>
            </a:r>
            <a:r>
              <a:rPr dirty="0"/>
              <a:t>: 4 modules, 20 routes, 45 components)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Auth patterns: no auth (4 subjects), route guards with roles (2 subjects: </a:t>
            </a:r>
            <a:r>
              <a:rPr dirty="0" err="1"/>
              <a:t>traduora</a:t>
            </a:r>
            <a:r>
              <a:rPr dirty="0"/>
              <a:t>, airbus)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UI patterns: standard forms, Angular Material, </a:t>
            </a:r>
            <a:r>
              <a:rPr dirty="0" err="1"/>
              <a:t>NgRx</a:t>
            </a:r>
            <a:r>
              <a:rPr dirty="0"/>
              <a:t>, dialog/modal composition, external navigation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Backend dependencies: REST APIs, JSON Server, in-memory, Spring Boot + MySQL, Express.js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All subjects validated for byte-identical determinism across repeated runs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Validated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Multigraph extraction (6 subjects)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665 nodes, 1345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Workflow enumeration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 workflows (145F + 112C + 0P)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Complete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Manifest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6/6 VALID, 0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B1.1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RealizationIntent derivation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257/257 GT match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Complete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ActionPlan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257/257 GT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Selenium test generation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257/257 generated (100%)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Complete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 execution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○ 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Coverage reporting (C1–C4)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○ Planned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475488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Determinism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E7D32"/>
                </a:solidFill>
                <a:latin typeface="Calibri"/>
              </a:defRPr>
            </a:pPr>
            <a:r>
              <a:t>✓ A1 + A2 bundles byte-identical across runs</a:t>
            </a:r>
          </a:p>
          <a:p>
            <a:pPr>
              <a:spcAft>
                <a:spcPts val="600"/>
              </a:spcAft>
              <a:defRPr sz="1300">
                <a:solidFill>
                  <a:srgbClr val="2E7D32"/>
                </a:solidFill>
                <a:latin typeface="Calibri"/>
              </a:defRPr>
            </a:pPr>
            <a:r>
              <a:t>✓ B0 summary byte-identical</a:t>
            </a:r>
          </a:p>
          <a:p>
            <a:pPr>
              <a:spcAft>
                <a:spcPts val="600"/>
              </a:spcAft>
              <a:defRPr sz="1300">
                <a:solidFill>
                  <a:srgbClr val="2E7D32"/>
                </a:solidFill>
                <a:latin typeface="Calibri"/>
              </a:defRPr>
            </a:pPr>
            <a:r>
              <a:t>✓ B1 intents + plans byte-identical</a:t>
            </a:r>
          </a:p>
          <a:p>
            <a:pPr>
              <a:spcAft>
                <a:spcPts val="600"/>
              </a:spcAft>
              <a:defRPr sz="1300">
                <a:solidFill>
                  <a:srgbClr val="2E7D32"/>
                </a:solidFill>
                <a:latin typeface="Calibri"/>
              </a:defRPr>
            </a:pPr>
            <a:r>
              <a:t>✓ B2 summary byte-identical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754880"/>
            <a:ext cx="548640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Test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12064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248 automated tests (unit + integration)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Typecheck</a:t>
            </a:r>
            <a:r>
              <a:rPr dirty="0"/>
              <a:t> (source + tests), lint — all green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All 6 subjects validated for every stage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GT validation: 257/257 for intents and plans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Coverage Model: Generation vs. Execution vs. Oracle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C1 (Plan)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Fraction of W with a valid ActionPlan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|W| (non-PRUNED)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257/257 =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C2 (Code)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Fraction of W with syntactically valid test code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|W|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257/257 = 100%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C3 (Execution)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Fraction of W with a passing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|W| − FAIL_APP_NOT_READY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Pending (B3)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C4 (Oracle)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Assertion richness beyond URL-match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Deferred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Deferred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3474720"/>
            <a:ext cx="5486400" cy="3108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Generation Coverage (C1+C2) —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512064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Measures: can we plan and generate code for every workflow?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Current: 257/257 = 100% for both C1 and C2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This is a necessary but not sufficient condition for E2E success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Does NOT prove that generated tests will execute correctly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474720"/>
            <a:ext cx="5486400" cy="31089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F17"/>
                </a:solidFill>
                <a:latin typeface="Calibri"/>
              </a:defRPr>
            </a:pPr>
            <a:r>
              <a:t>Execution Coverage (C3) — 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23360"/>
            <a:ext cx="512064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Measures: do generated tests actually pass on a running app?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Requires: running application, seeded data, correct auth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125 workflows need no entity data (49%)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129 require entity data in database (50%)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97 require authentication (38%)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B3 implementation pending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Comparison with AutoE2E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AutoE2E (Allan et al., ICSE 2025): LLM-driven feature discovery via runtime exploration.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45920"/>
          <a:ext cx="11521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Approach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AutoE2E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Interaction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Closed workflow space W from source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Open: discovered at runtime via crawler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Coverage denominator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Fixed |W| (implementation-grounded)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Exploration-bounded (30-action ceiling)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Constraint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Explicit: guards, params, UI atoms in C(w)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Implicit: auth wall blocks navigation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 generation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Deterministic Selenium from ActionPlans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not generate executable tests 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Coverage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|E|/|W| over same fixed W for 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Feature discovery count (no W defined)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Auth support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Manifest-driven credentials + authSetup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credential management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Schema-aware from A1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Requires data-testid (PetClinic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Determinism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Byte-identical across runs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LLM-dependent, non-deterministic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* AutoE2E produces a state graph and feature database, not executable test files. Confirmed by code inspection and 6 benchmark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AutoE2E: 6-Subject Benchmark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Independent evaluation: AutoE2E pipeline executed on all 6 subjects used in our validation corpus.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4592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Actions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(of 30)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Forms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Submitted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Binding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PetClinic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30-action ceiling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Ever Traduora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Auth wall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Posts &amp;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30-action ceiling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Heroes Angular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30-action ceiling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Airbus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Auth wall + finality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SoftScanner CQA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30-action ceiling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* PetClinic forms use custom data-testid attributes; mechanical traversal only, business outcomes not verified.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663440"/>
            <a:ext cx="114300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Key Findings from AutoE2E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AutoE2E does not generate executable test files — produces state graph + feature database only</a:t>
            </a:r>
            <a:endParaRPr lang="en-US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Form submission requires </a:t>
            </a:r>
            <a:r>
              <a:rPr dirty="0" err="1"/>
              <a:t>PetClinic</a:t>
            </a:r>
            <a:r>
              <a:rPr dirty="0"/>
              <a:t>-specific data-</a:t>
            </a:r>
            <a:r>
              <a:rPr dirty="0" err="1"/>
              <a:t>testid</a:t>
            </a:r>
            <a:r>
              <a:rPr dirty="0"/>
              <a:t> attributes; fails on all standard Angular forms</a:t>
            </a:r>
            <a:endParaRPr lang="en-US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Auth-protected apps (</a:t>
            </a:r>
            <a:r>
              <a:rPr dirty="0" err="1"/>
              <a:t>traduora</a:t>
            </a:r>
            <a:r>
              <a:rPr dirty="0"/>
              <a:t>, airbus) severely constrained: pipeline has no credential management</a:t>
            </a:r>
            <a:endParaRPr lang="en-US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30-action ceiling is primary bottleneck for accessible apps; does not scale to large interaction surfaces</a:t>
            </a:r>
            <a:endParaRPr lang="en-US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Comparison is fundamentally asymmetric: our W is grounded in source code; AutoE2E's space is exploration-bounded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Limitations and Open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7F17"/>
                </a:solidFill>
                <a:latin typeface="Calibri"/>
              </a:defRPr>
            </a:pPr>
            <a:r>
              <a:t>Execution Readiness (Not Yet Validated)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12064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B3 not implemented: generated tests not yet executed at scale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129 workflows (50%) depend on entity data existing in the running app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Entity provisioning is the user's responsibility (</a:t>
            </a:r>
            <a:r>
              <a:rPr dirty="0" err="1"/>
              <a:t>seedDataNotes</a:t>
            </a:r>
            <a:r>
              <a:rPr dirty="0"/>
              <a:t>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No automated readiness verification beyond HTTP GET check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Failure taxonomy defined but not empirically validated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LLM-assisted retry (Level 3) not yet implemented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C3 (execution coverage) remains the key open 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Methodological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12064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Angular-specific: AST extraction uses </a:t>
            </a:r>
            <a:r>
              <a:rPr dirty="0" err="1"/>
              <a:t>ts</a:t>
            </a:r>
            <a:r>
              <a:rPr dirty="0"/>
              <a:t>-morph + @angular/compiler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this could be easily adapted to other typescript-based frameworks such as React.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Postconditions limited to URL-match + no-crash (C4 deferred)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Mapping AutoE2E actions to our W is deterministic but approximate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This work reframes E2E test coverage as a property of a finite, constraint-aware workflow space grounded in the frontend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4864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12064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Augmented workflows: navigation paths annotated with implementation-level guard/state constraints</a:t>
            </a:r>
            <a:endParaRPr lang="en-U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Finite, closed workflow space W as the coverage denominator — implementation-grounded, not exploration-bounded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Automated pipeline: A1 (multigraph) → A2 (workflows) → B0–B2 (realization + code generation)</a:t>
            </a:r>
            <a:endParaRPr lang="en-U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Separation of construction (Phase A) from realization (Phase B) — coverage measures realization effectiveness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Deterministic throughout: same codebase → byte-identical artifacts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GT-validated on 6 Angular subjects (257 workflows, 0 mismatches)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What the Evidence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12064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C1 + C2 = 100%: every workflow in W has a valid plan and generated test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Consistent improvement on applications with guarded routes and parameterized workflows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Coverage differences reflect realization capability, not denominator differences (same 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931920"/>
            <a:ext cx="5486400" cy="15544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39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F17"/>
                </a:solidFill>
                <a:latin typeface="Calibri"/>
              </a:defRPr>
            </a:pPr>
            <a:r>
              <a:rPr lang="en-US" dirty="0"/>
              <a:t>Pending</a:t>
            </a:r>
            <a:r>
              <a:rPr dirty="0"/>
              <a:t>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B3: Execute generated tests at scale across all 6 subjects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60720"/>
            <a:ext cx="11430000" cy="64008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580644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rPr dirty="0"/>
              <a:t>Honest status: Generation coverage validated (100%). Full 6-subject execution coverage pending B3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3072</Words>
  <Application>Microsoft Office PowerPoint</Application>
  <PresentationFormat>Widescreen</PresentationFormat>
  <Paragraphs>541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Bashar Rima</cp:lastModifiedBy>
  <cp:revision>38</cp:revision>
  <dcterms:created xsi:type="dcterms:W3CDTF">2013-01-27T09:14:16Z</dcterms:created>
  <dcterms:modified xsi:type="dcterms:W3CDTF">2026-03-12T12:07:23Z</dcterms:modified>
  <cp:category/>
</cp:coreProperties>
</file>